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Inter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6f64acc9b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6f64acc9b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6f64acc9b4_0_7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6f64acc9b4_0_7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6f64acc9b4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6f64acc9b4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6f64acc9b4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6f64acc9b4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6f64acc9b4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6f64acc9b4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f64acc9b4_0_1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6f64acc9b4_0_1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f64acc9b4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6f64acc9b4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f64acc9b4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36f64acc9b4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f64acc9b4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6f64acc9b4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6f66ee957a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6f66ee957a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6f66ee957a_1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6f66ee957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36f64acc9b4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g36f64acc9b4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f66ee957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36f66ee957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6f66ee957a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6f66ee957a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6f64acc9b4_0_1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6f64acc9b4_0_1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6f66ee957a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6f66ee957a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6f64acc9b4_0_1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6f64acc9b4_0_1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6f64acc9b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6f64acc9b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Coffee Dataset</a:t>
            </a: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EDA</a:t>
            </a: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5700"/>
            </a:b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Reinforcement Project</a:t>
            </a:r>
            <a:endParaRPr sz="1500"/>
          </a:p>
        </p:txBody>
      </p:sp>
      <p:cxnSp>
        <p:nvCxnSpPr>
          <p:cNvPr id="362" name="Google Shape;362;p4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3" name="Google Shape;363;p47"/>
          <p:cNvSpPr txBox="1"/>
          <p:nvPr/>
        </p:nvSpPr>
        <p:spPr>
          <a:xfrm>
            <a:off x="7199550" y="4329725"/>
            <a:ext cx="1944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Sibimanyu M</a:t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64" name="Google Shape;36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9625" y="1859776"/>
            <a:ext cx="2201926" cy="2201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0725" y="285900"/>
            <a:ext cx="1016126" cy="8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8"/>
          <p:cNvSpPr/>
          <p:nvPr/>
        </p:nvSpPr>
        <p:spPr>
          <a:xfrm>
            <a:off x="283859" y="7452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1" name="Google Shape;371;p48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2" name="Google Shape;372;p48"/>
          <p:cNvSpPr txBox="1"/>
          <p:nvPr>
            <p:ph idx="5" type="subTitle"/>
          </p:nvPr>
        </p:nvSpPr>
        <p:spPr>
          <a:xfrm>
            <a:off x="1171400" y="666875"/>
            <a:ext cx="7416900" cy="262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Define the Objective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Understand the problem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you're trying to solve or the question you're answering.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Collaborate with stakeholders to clarify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goals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KPIs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hypotheses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.</a:t>
            </a:r>
            <a:endParaRPr sz="2600"/>
          </a:p>
        </p:txBody>
      </p:sp>
      <p:pic>
        <p:nvPicPr>
          <p:cNvPr id="373" name="Google Shape;373;p48" title="coffeegif1.gif"/>
          <p:cNvPicPr preferRelativeResize="0"/>
          <p:nvPr/>
        </p:nvPicPr>
        <p:blipFill rotWithShape="1">
          <a:blip r:embed="rId3">
            <a:alphaModFix/>
          </a:blip>
          <a:srcRect b="20919" l="0" r="0" t="32592"/>
          <a:stretch/>
        </p:blipFill>
        <p:spPr>
          <a:xfrm>
            <a:off x="2543000" y="3601975"/>
            <a:ext cx="4054800" cy="1541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" name="Google Shape;378;p49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9" name="Google Shape;379;p49"/>
          <p:cNvSpPr txBox="1"/>
          <p:nvPr>
            <p:ph idx="5" type="subTitle"/>
          </p:nvPr>
        </p:nvSpPr>
        <p:spPr>
          <a:xfrm>
            <a:off x="1171400" y="1555575"/>
            <a:ext cx="7416900" cy="232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100">
                <a:latin typeface="Arial"/>
                <a:ea typeface="Arial"/>
                <a:cs typeface="Arial"/>
                <a:sym typeface="Arial"/>
              </a:rPr>
              <a:t>Goal:</a:t>
            </a:r>
            <a:br>
              <a:rPr b="1"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700">
                <a:latin typeface="Arial"/>
                <a:ea typeface="Arial"/>
                <a:cs typeface="Arial"/>
                <a:sym typeface="Arial"/>
              </a:rPr>
              <a:t>To explore, clean, and analyze the coffee quality dataset to uncover patterns and actionable insights related to coffee quality.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Key Questions: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What factors influence cup quality?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How do origin, altitude, or processing affect taste?</a:t>
            </a:r>
            <a:br>
              <a:rPr lang="en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●"/>
            </a:pPr>
            <a:r>
              <a:rPr lang="en" sz="1700">
                <a:latin typeface="Arial"/>
                <a:ea typeface="Arial"/>
                <a:cs typeface="Arial"/>
                <a:sym typeface="Arial"/>
              </a:rPr>
              <a:t>How do Arabica and Robusta compare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0"/>
          <p:cNvSpPr/>
          <p:nvPr/>
        </p:nvSpPr>
        <p:spPr>
          <a:xfrm>
            <a:off x="283859" y="7452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5" name="Google Shape;385;p50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50"/>
          <p:cNvSpPr txBox="1"/>
          <p:nvPr>
            <p:ph idx="5" type="subTitle"/>
          </p:nvPr>
        </p:nvSpPr>
        <p:spPr>
          <a:xfrm>
            <a:off x="1171400" y="1766075"/>
            <a:ext cx="7416900" cy="1524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Dataset Overview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What the data includes: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 Quality metrics (e.g., Aroma, Flavor, Acidity...)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Bean metadata (Species, Processing Method, Color)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Farm metadata (Country, Region, Altitude)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 txBox="1"/>
          <p:nvPr/>
        </p:nvSpPr>
        <p:spPr>
          <a:xfrm>
            <a:off x="3124650" y="98850"/>
            <a:ext cx="322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Flavor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overall perception of taste and aroma, encompassing the combined sensations of taste, smell, and mouthfeel.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2" name="Google Shape;392;p51"/>
          <p:cNvSpPr txBox="1"/>
          <p:nvPr/>
        </p:nvSpPr>
        <p:spPr>
          <a:xfrm>
            <a:off x="185700" y="1395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Acidity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bright, lively, and sometimes fruity notes that contribute to a vibrant and complex. Not the pH.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3" name="Google Shape;393;p51"/>
          <p:cNvSpPr txBox="1"/>
          <p:nvPr/>
        </p:nvSpPr>
        <p:spPr>
          <a:xfrm>
            <a:off x="185700" y="13609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Aftertaste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refers to the lingering taste sensation in the mouth after swallowing a sip.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4" name="Google Shape;394;p51"/>
          <p:cNvSpPr txBox="1"/>
          <p:nvPr/>
        </p:nvSpPr>
        <p:spPr>
          <a:xfrm>
            <a:off x="3124725" y="1404275"/>
            <a:ext cx="3222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Sweetness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refers to the pleasant, natural sugar-like quality in the flavor of the coffee.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5" name="Google Shape;395;p51"/>
          <p:cNvSpPr txBox="1"/>
          <p:nvPr/>
        </p:nvSpPr>
        <p:spPr>
          <a:xfrm>
            <a:off x="217550" y="2450975"/>
            <a:ext cx="277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Uniformity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consistency in bean size, roast development, and particle size during grinding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6" name="Google Shape;396;p51"/>
          <p:cNvSpPr txBox="1"/>
          <p:nvPr/>
        </p:nvSpPr>
        <p:spPr>
          <a:xfrm>
            <a:off x="3124650" y="2519225"/>
            <a:ext cx="2772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Balance</a:t>
            </a:r>
            <a:endParaRPr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Balanced → flavors complement each other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Unbalanced → too bitter or sour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7" name="Google Shape;397;p51"/>
          <p:cNvSpPr txBox="1"/>
          <p:nvPr/>
        </p:nvSpPr>
        <p:spPr>
          <a:xfrm>
            <a:off x="6144125" y="139550"/>
            <a:ext cx="29616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Body 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is the sensation of heaviness, thickness, or viscosity of the coffee in your mouth. It's the difference between drinking something light like water and something thick like milk.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8" name="Google Shape;398;p51"/>
          <p:cNvSpPr txBox="1"/>
          <p:nvPr/>
        </p:nvSpPr>
        <p:spPr>
          <a:xfrm>
            <a:off x="6144125" y="1932075"/>
            <a:ext cx="31539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Moisture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amount of water in the green coffee beans.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9" name="Google Shape;399;p51"/>
          <p:cNvSpPr txBox="1"/>
          <p:nvPr/>
        </p:nvSpPr>
        <p:spPr>
          <a:xfrm>
            <a:off x="185700" y="3716975"/>
            <a:ext cx="6086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1"/>
                </a:solidFill>
              </a:rPr>
              <a:t>Cupper Points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is the overall score given to a coffee sample based on the sensory evaluation of its attributes, including fragrance/aroma, acidity, flavor, body, aftertaste, sweetness, uniformity, and cleanliness, and taking into account any defect.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0" name="Google Shape;400;p51"/>
          <p:cNvSpPr txBox="1"/>
          <p:nvPr/>
        </p:nvSpPr>
        <p:spPr>
          <a:xfrm>
            <a:off x="6144125" y="2763375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Category Defect 1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Full black or sour bean, pod/cherry, and large or medium sticks or stones.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1" name="Google Shape;401;p51"/>
          <p:cNvSpPr txBox="1"/>
          <p:nvPr/>
        </p:nvSpPr>
        <p:spPr>
          <a:xfrm>
            <a:off x="6144125" y="3781325"/>
            <a:ext cx="3077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Category Defect 2</a:t>
            </a:r>
            <a:r>
              <a:rPr lang="en">
                <a:solidFill>
                  <a:schemeClr val="dk1"/>
                </a:solidFill>
              </a:rPr>
              <a:t> 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Parchment, hull/husk, broken/chipped, insect damage, partial black or sour, shell, small sticks or stones, water damage.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2"/>
          <p:cNvSpPr/>
          <p:nvPr/>
        </p:nvSpPr>
        <p:spPr>
          <a:xfrm>
            <a:off x="283859" y="7452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7" name="Google Shape;407;p52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52"/>
          <p:cNvSpPr txBox="1"/>
          <p:nvPr>
            <p:ph idx="5" type="subTitle"/>
          </p:nvPr>
        </p:nvSpPr>
        <p:spPr>
          <a:xfrm>
            <a:off x="1171400" y="1999925"/>
            <a:ext cx="7416900" cy="129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700">
                <a:latin typeface="Arial"/>
                <a:ea typeface="Arial"/>
                <a:cs typeface="Arial"/>
                <a:sym typeface="Arial"/>
              </a:rPr>
              <a:t>Data Cleaning (Preprocessing)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Handle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missing values</a:t>
            </a:r>
            <a:br>
              <a:rPr b="1" lang="en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Remove or correct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duplicates</a:t>
            </a:r>
            <a:br>
              <a:rPr b="1" lang="en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Fix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data type inconsistencies</a:t>
            </a:r>
            <a:br>
              <a:rPr b="1" lang="en" sz="1500">
                <a:latin typeface="Arial"/>
                <a:ea typeface="Arial"/>
                <a:cs typeface="Arial"/>
                <a:sym typeface="Arial"/>
              </a:rPr>
            </a:b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Normalize or standardize data if needed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Detect and address </a:t>
            </a:r>
            <a:r>
              <a:rPr b="1" lang="en" sz="1500">
                <a:latin typeface="Arial"/>
                <a:ea typeface="Arial"/>
                <a:cs typeface="Arial"/>
                <a:sym typeface="Arial"/>
              </a:rPr>
              <a:t>outliers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3"/>
          <p:cNvSpPr txBox="1"/>
          <p:nvPr/>
        </p:nvSpPr>
        <p:spPr>
          <a:xfrm>
            <a:off x="235125" y="671425"/>
            <a:ext cx="3000000" cy="27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Actions Taken: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Dropped duplicates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Checked and handled missing values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Ensured consistent formatting in columns like species or processing methods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  <p:pic>
        <p:nvPicPr>
          <p:cNvPr id="414" name="Google Shape;414;p53" title="Screenshot 2025-07-22 at 12.15.5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7525" y="152400"/>
            <a:ext cx="5604076" cy="2197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53" title="Screenshot 2025-07-22 at 12.16.0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525" y="2472475"/>
            <a:ext cx="5604076" cy="2489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4"/>
          <p:cNvSpPr/>
          <p:nvPr/>
        </p:nvSpPr>
        <p:spPr>
          <a:xfrm>
            <a:off x="283859" y="7452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1" name="Google Shape;421;p54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" name="Google Shape;422;p54"/>
          <p:cNvSpPr txBox="1"/>
          <p:nvPr>
            <p:ph idx="5" type="subTitle"/>
          </p:nvPr>
        </p:nvSpPr>
        <p:spPr>
          <a:xfrm>
            <a:off x="1171400" y="1357975"/>
            <a:ext cx="7416900" cy="1932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latin typeface="Arial"/>
                <a:ea typeface="Arial"/>
                <a:cs typeface="Arial"/>
                <a:sym typeface="Arial"/>
              </a:rPr>
              <a:t>Exploratory Data Analysis (EDA)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descriptive statistics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(mean, median, mode, standard deviation, etc.)</a:t>
            </a:r>
            <a:br>
              <a:rPr lang="en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Visualize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 the data (bar plots, histograms, box plots, etc.)</a:t>
            </a:r>
            <a:br>
              <a:rPr lang="en" sz="1800">
                <a:latin typeface="Arial"/>
                <a:ea typeface="Arial"/>
                <a:cs typeface="Arial"/>
                <a:sym typeface="Arial"/>
              </a:rPr>
            </a:b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patterns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relationships</a:t>
            </a:r>
            <a:r>
              <a:rPr lang="en" sz="180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800">
                <a:latin typeface="Arial"/>
                <a:ea typeface="Arial"/>
                <a:cs typeface="Arial"/>
                <a:sym typeface="Arial"/>
              </a:rPr>
              <a:t>potential anomalies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Google Shape;427;p55" title="Screenshot 2025-07-22 at 12.17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5411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6" title="Screenshot 2025-07-22 at 12.32.5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689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" name="Google Shape;437;p57" title="Screenshot 2025-07-22 at 12.35.0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850" y="107875"/>
            <a:ext cx="3927751" cy="31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57" title="Screenshot 2025-07-22 at 12.35.3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1451" y="107875"/>
            <a:ext cx="4626600" cy="2413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57" title="Screenshot 2025-07-22 at 12.36.12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8163" y="3562175"/>
            <a:ext cx="2681114" cy="138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7" title="Screenshot 2025-07-22 at 12.37.50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3563" y="2673670"/>
            <a:ext cx="2682380" cy="2317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58" title="Screenshot 2025-07-22 at 12.40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1925" y="107288"/>
            <a:ext cx="6247349" cy="4928926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8"/>
          <p:cNvSpPr txBox="1"/>
          <p:nvPr/>
        </p:nvSpPr>
        <p:spPr>
          <a:xfrm>
            <a:off x="0" y="0"/>
            <a:ext cx="26709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Observations</a:t>
            </a:r>
            <a:endParaRPr b="1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Species</a:t>
            </a:r>
            <a:r>
              <a:rPr lang="en">
                <a:solidFill>
                  <a:schemeClr val="dk1"/>
                </a:solidFill>
              </a:rPr>
              <a:t>: Dominated by Arabica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Country_of_Origin</a:t>
            </a:r>
            <a:r>
              <a:rPr lang="en">
                <a:solidFill>
                  <a:schemeClr val="dk1"/>
                </a:solidFill>
              </a:rPr>
              <a:t>: Mexico, Colombia, and Guatemala are top producers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Processing_Method_Clean</a:t>
            </a:r>
            <a:r>
              <a:rPr lang="en">
                <a:solidFill>
                  <a:schemeClr val="dk1"/>
                </a:solidFill>
              </a:rPr>
              <a:t>: Washed is by far the most common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Variety</a:t>
            </a:r>
            <a:r>
              <a:rPr lang="en">
                <a:solidFill>
                  <a:schemeClr val="dk1"/>
                </a:solidFill>
              </a:rPr>
              <a:t>: Caturra leads, followed by Bourbon and Typica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Color</a:t>
            </a:r>
            <a:r>
              <a:rPr lang="en">
                <a:solidFill>
                  <a:schemeClr val="dk1"/>
                </a:solidFill>
              </a:rPr>
              <a:t>: Almost all are Green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00"/>
                </a:solidFill>
              </a:rPr>
              <a:t>Certification_Body</a:t>
            </a:r>
            <a:r>
              <a:rPr lang="en">
                <a:solidFill>
                  <a:schemeClr val="dk1"/>
                </a:solidFill>
              </a:rPr>
              <a:t>: Specialty Coffee Association appears most frequently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59" title="Screenshot 2025-07-22 at 12.38.19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350" y="130575"/>
            <a:ext cx="4720076" cy="285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59" title="Screenshot 2025-07-22 at 12.44.30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2801" y="130575"/>
            <a:ext cx="3958776" cy="355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60" title="Screenshot 2025-07-22 at 12.18.0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16850" y="152400"/>
            <a:ext cx="554227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60"/>
          <p:cNvSpPr txBox="1"/>
          <p:nvPr/>
        </p:nvSpPr>
        <p:spPr>
          <a:xfrm>
            <a:off x="235125" y="671425"/>
            <a:ext cx="3000000" cy="25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Multivariate</a:t>
            </a:r>
            <a:r>
              <a:rPr b="1" lang="en">
                <a:solidFill>
                  <a:schemeClr val="dk1"/>
                </a:solidFill>
              </a:rPr>
              <a:t>: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We find the correlation matrix on this heatmap to identify columns that are correlated.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Quality columns such as Flavor, Aftertaste, Acidity, Body, Balance have high correlation.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1"/>
          <p:cNvSpPr/>
          <p:nvPr/>
        </p:nvSpPr>
        <p:spPr>
          <a:xfrm>
            <a:off x="283859" y="745225"/>
            <a:ext cx="544800" cy="54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18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4" name="Google Shape;464;p61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61"/>
          <p:cNvSpPr txBox="1"/>
          <p:nvPr>
            <p:ph idx="5" type="subTitle"/>
          </p:nvPr>
        </p:nvSpPr>
        <p:spPr>
          <a:xfrm>
            <a:off x="1171400" y="1290025"/>
            <a:ext cx="7416900" cy="2000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latin typeface="Arial"/>
                <a:ea typeface="Arial"/>
                <a:cs typeface="Arial"/>
                <a:sym typeface="Arial"/>
              </a:rPr>
              <a:t>Data Modeling / Statistical Analysis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Apply appropriate statistical tests or machine learning models: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T-tests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ANOVA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correlation analysis</a:t>
            </a:r>
            <a:br>
              <a:rPr b="1" lang="en" sz="1600">
                <a:latin typeface="Arial"/>
                <a:ea typeface="Arial"/>
                <a:cs typeface="Arial"/>
                <a:sym typeface="Arial"/>
              </a:rPr>
            </a:b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○"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Regression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00"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, etc.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Split data into training and testing sets if building predictive models</a:t>
            </a:r>
            <a:endParaRPr b="1" sz="25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2"/>
          <p:cNvSpPr txBox="1"/>
          <p:nvPr/>
        </p:nvSpPr>
        <p:spPr>
          <a:xfrm>
            <a:off x="812125" y="285900"/>
            <a:ext cx="6644100" cy="3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77800" marR="2413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00"/>
                </a:solidFill>
              </a:rPr>
              <a:t>Scenario 1: Is the average total cup score different between Arabica and Robusta beans?</a:t>
            </a:r>
            <a:endParaRPr b="1" sz="1600">
              <a:solidFill>
                <a:srgbClr val="FFFF00"/>
              </a:solidFill>
            </a:endParaRPr>
          </a:p>
          <a:p>
            <a:pPr indent="0" lvl="0" marL="101600" marR="241300" rtl="0" algn="l">
              <a:lnSpc>
                <a:spcPct val="16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00"/>
                </a:solidFill>
              </a:rPr>
              <a:t>Goal</a:t>
            </a:r>
            <a:r>
              <a:rPr lang="en" sz="1150">
                <a:solidFill>
                  <a:schemeClr val="dk1"/>
                </a:solidFill>
              </a:rPr>
              <a:t>: Test if there's a significant difference in mean cup score between Arabica and Robusta.</a:t>
            </a:r>
            <a:endParaRPr sz="1150">
              <a:solidFill>
                <a:schemeClr val="dk1"/>
              </a:solidFill>
            </a:endParaRPr>
          </a:p>
          <a:p>
            <a:pPr indent="0" lvl="0" marL="101600" marR="2413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00"/>
                </a:solidFill>
              </a:rPr>
              <a:t>Species</a:t>
            </a:r>
            <a:r>
              <a:rPr lang="en" sz="1150">
                <a:solidFill>
                  <a:schemeClr val="dk1"/>
                </a:solidFill>
              </a:rPr>
              <a:t> (categorical: Arabica / Robusta) Total_Cup_Points (numerical)</a:t>
            </a:r>
            <a:endParaRPr sz="1150">
              <a:solidFill>
                <a:schemeClr val="dk1"/>
              </a:solidFill>
            </a:endParaRPr>
          </a:p>
          <a:p>
            <a:pPr indent="0" lvl="0" marL="101600" marR="2413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H₀ (Null Hypothesis): Mean Total_Cup_Points is equal for Arabica and Robusta beans.</a:t>
            </a:r>
            <a:endParaRPr sz="1150">
              <a:solidFill>
                <a:schemeClr val="dk1"/>
              </a:solidFill>
            </a:endParaRPr>
          </a:p>
          <a:p>
            <a:pPr indent="0" lvl="0" marL="101600" marR="2413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𝐻0: 𝜇 Arabica = 𝜇 Robusta</a:t>
            </a:r>
            <a:endParaRPr sz="1150">
              <a:solidFill>
                <a:schemeClr val="dk1"/>
              </a:solidFill>
            </a:endParaRPr>
          </a:p>
          <a:p>
            <a:pPr indent="0" lvl="0" marL="101600" marR="241300" rtl="0" algn="l">
              <a:lnSpc>
                <a:spcPct val="160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H1 (Alternative Hypothesis): Mean Total_Cup_Points is not equal for Arabica and Robusta.</a:t>
            </a:r>
            <a:endParaRPr sz="1150">
              <a:solidFill>
                <a:schemeClr val="dk1"/>
              </a:solidFill>
            </a:endParaRPr>
          </a:p>
          <a:p>
            <a:pPr indent="0" lvl="0" marL="101600" marR="241300" rtl="0" algn="l">
              <a:lnSpc>
                <a:spcPct val="160000"/>
              </a:lnSpc>
              <a:spcBef>
                <a:spcPts val="1100"/>
              </a:spcBef>
              <a:spcAft>
                <a:spcPts val="50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𝐻1: 𝜇 Arabica ≠ 𝜇 Robusta</a:t>
            </a:r>
            <a:endParaRPr sz="1150">
              <a:solidFill>
                <a:schemeClr val="dk1"/>
              </a:solidFill>
            </a:endParaRPr>
          </a:p>
        </p:txBody>
      </p:sp>
      <p:sp>
        <p:nvSpPr>
          <p:cNvPr id="471" name="Google Shape;471;p62"/>
          <p:cNvSpPr txBox="1"/>
          <p:nvPr/>
        </p:nvSpPr>
        <p:spPr>
          <a:xfrm>
            <a:off x="284850" y="3601975"/>
            <a:ext cx="8426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Hypothesis Test: Arabica vs Robusta </a:t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T-Test Statistic = 2.6450</a:t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p-value = 0.0130</a:t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Reject H0: Significant difference in Total Cup Points between Arabica and Robusta.</a:t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3"/>
          <p:cNvSpPr txBox="1"/>
          <p:nvPr/>
        </p:nvSpPr>
        <p:spPr>
          <a:xfrm>
            <a:off x="1074875" y="474875"/>
            <a:ext cx="6802200" cy="25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7620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00"/>
                </a:solidFill>
              </a:rPr>
              <a:t>Scenario 2: Is the average total cup score different between different varieties?</a:t>
            </a:r>
            <a:endParaRPr b="1" sz="1500">
              <a:solidFill>
                <a:srgbClr val="FFFF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FFF00"/>
                </a:solidFill>
              </a:rPr>
              <a:t>Goal</a:t>
            </a:r>
            <a:r>
              <a:rPr lang="en" sz="1050">
                <a:solidFill>
                  <a:schemeClr val="dk1"/>
                </a:solidFill>
              </a:rPr>
              <a:t>: Test if there's a significant difference in mean cup score between Varieties.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050">
                <a:solidFill>
                  <a:srgbClr val="FFFF00"/>
                </a:solidFill>
              </a:rPr>
              <a:t>Variety</a:t>
            </a:r>
            <a:r>
              <a:rPr lang="en" sz="1050">
                <a:solidFill>
                  <a:schemeClr val="dk1"/>
                </a:solidFill>
              </a:rPr>
              <a:t> (categorical: Caturra/Bourbon/Typica/other etc) Total_Cup_Points (numerical)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H₀ (Null Hypothesis): Mean Total_Cup_Points is equal for all varieties.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𝐻0: 𝜇 Bourbon = 𝜇 Typica = 𝜇 Caturra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H1 (Alternative Hypothesis): Mean Total_Cup_Points is not equal for different Varieties.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50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𝐻1: 𝜇 Bourbon ≠ 𝜇 Typica ≠ 𝜇 Caturra ≠ ...</a:t>
            </a:r>
            <a:endParaRPr sz="1050">
              <a:solidFill>
                <a:schemeClr val="dk1"/>
              </a:solidFill>
            </a:endParaRPr>
          </a:p>
        </p:txBody>
      </p:sp>
      <p:sp>
        <p:nvSpPr>
          <p:cNvPr id="477" name="Google Shape;477;p63"/>
          <p:cNvSpPr txBox="1"/>
          <p:nvPr/>
        </p:nvSpPr>
        <p:spPr>
          <a:xfrm>
            <a:off x="337975" y="3479425"/>
            <a:ext cx="8518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F-statistic: 4.4771, p-value: 0.0001</a:t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07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Reject H0: At least one variety has a significantly different mean Total Cup Points.</a:t>
            </a:r>
            <a:endParaRPr sz="1300">
              <a:solidFill>
                <a:schemeClr val="lt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2" name="Google Shape;482;p64"/>
          <p:cNvCxnSpPr/>
          <p:nvPr/>
        </p:nvCxnSpPr>
        <p:spPr>
          <a:xfrm>
            <a:off x="283850" y="155558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3" name="Google Shape;483;p64"/>
          <p:cNvSpPr txBox="1"/>
          <p:nvPr>
            <p:ph idx="5" type="subTitle"/>
          </p:nvPr>
        </p:nvSpPr>
        <p:spPr>
          <a:xfrm>
            <a:off x="3057000" y="1555575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pic>
        <p:nvPicPr>
          <p:cNvPr id="484" name="Google Shape;48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9750" y="2416113"/>
            <a:ext cx="314325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